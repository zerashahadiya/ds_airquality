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78992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1">
                <a:solidFill>
                  <a:srgbClr val="176B5B"/>
                </a:solidFill>
                <a:latin typeface="Aptos"/>
              </a:defRPr>
            </a:pPr>
            <a:r>
              <a:t>AIR QUALITY /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424160" cy="1371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400" b="1">
                <a:solidFill>
                  <a:srgbClr val="18313A"/>
                </a:solidFill>
                <a:latin typeface="Aptos"/>
              </a:defRPr>
            </a:pPr>
            <a:r>
              <a:t>When does air quality</a:t>
            </a:r>
            <a:br/>
            <a:r>
              <a:t>need attention?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9601200" cy="7315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000" b="0">
                <a:solidFill>
                  <a:srgbClr val="18313A"/>
                </a:solidFill>
                <a:latin typeface="Aptos"/>
              </a:defRPr>
            </a:pPr>
            <a:r>
              <a:t>A data-led review of hourly sensor readings, weather measures, and an AQI estimation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15000"/>
            <a:ext cx="1051560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200" b="0">
                <a:solidFill>
                  <a:srgbClr val="52676B"/>
                </a:solidFill>
                <a:latin typeface="Aptos"/>
              </a:defRPr>
            </a:pPr>
            <a:r>
              <a:t>EcoAir Analytics Centre  |  UCI source data  |  March 2004 - April 2005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18313A"/>
                </a:solidFill>
                <a:latin typeface="Aptos"/>
              </a:defRPr>
            </a:pPr>
            <a:r>
              <a:t>01  /  A repeatable time signal</a:t>
            </a:r>
          </a:p>
        </p:txBody>
      </p:sp>
      <p:pic>
        <p:nvPicPr>
          <p:cNvPr id="3" name="Picture 2" descr="aqi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6675120" cy="333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25880"/>
            <a:ext cx="4023360" cy="1463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176B5B"/>
                </a:solidFill>
                <a:latin typeface="Aptos"/>
              </a:defRPr>
            </a:pPr>
            <a:r>
              <a:t>Highest hourly mean</a:t>
            </a:r>
            <a:br/>
            <a:r>
              <a:t>19:00  |  AQI 164.3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3063240"/>
            <a:ext cx="4023360" cy="12801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800" b="0">
                <a:solidFill>
                  <a:srgbClr val="18313A"/>
                </a:solidFill>
                <a:latin typeface="Aptos"/>
              </a:defRPr>
            </a:pPr>
            <a:r>
              <a:t>Lowest hourly mean</a:t>
            </a:r>
            <a:br/>
            <a:r>
              <a:t>05:00  |  AQI 83.4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4754880"/>
            <a:ext cx="402336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18313A"/>
                </a:solidFill>
                <a:latin typeface="Aptos"/>
              </a:defRPr>
            </a:pPr>
            <a:r>
              <a:t>Operational meaning: prioritize checks around historically elevated hours, then confirm with current local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18313A"/>
                </a:solidFill>
                <a:latin typeface="Aptos"/>
              </a:defRPr>
            </a:pPr>
            <a:r>
              <a:t>02  /  Weather and pollutant signals</a:t>
            </a:r>
          </a:p>
        </p:txBody>
      </p:sp>
      <p:pic>
        <p:nvPicPr>
          <p:cNvPr id="3" name="Picture 2" descr="aqi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585216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234440"/>
            <a:ext cx="4846320" cy="1325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900" b="1">
                <a:solidFill>
                  <a:srgbClr val="176B5B"/>
                </a:solidFill>
                <a:latin typeface="Aptos"/>
              </a:defRPr>
            </a:pPr>
            <a:r>
              <a:t>Model's strongest useful signals</a:t>
            </a:r>
            <a:br/>
            <a:r>
              <a:t>NO2(GT), CO(GT), NOx(GT)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34640"/>
            <a:ext cx="4754880" cy="19202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18313A"/>
                </a:solidFill>
                <a:latin typeface="Aptos"/>
              </a:defRPr>
            </a:pPr>
            <a:r>
              <a:t>Temperature and relative humidity are available. Wind, rain, and traffic are not, so the corresponding business questions cannot be tested with this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074920"/>
            <a:ext cx="4754880" cy="7315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D86F52"/>
                </a:solidFill>
                <a:latin typeface="Aptos"/>
              </a:defRPr>
            </a:pPr>
            <a:r>
              <a:t>Highest seasonal mean: Winter (155.4)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18313A"/>
                </a:solidFill>
                <a:latin typeface="Aptos"/>
              </a:defRPr>
            </a:pPr>
            <a:r>
              <a:t>03  /  Model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4846320" cy="10972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400" b="1">
                <a:solidFill>
                  <a:srgbClr val="176B5B"/>
                </a:solidFill>
                <a:latin typeface="Aptos"/>
              </a:defRPr>
            </a:pPr>
            <a:r>
              <a:t>MAE  0.52</a:t>
            </a:r>
            <a:br/>
            <a:r>
              <a:t>Mean baseline  49.15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43000"/>
            <a:ext cx="4846320" cy="10972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400" b="1">
                <a:solidFill>
                  <a:srgbClr val="D86F52"/>
                </a:solidFill>
                <a:latin typeface="Aptos"/>
              </a:defRPr>
            </a:pPr>
            <a:r>
              <a:t>R2  0.997</a:t>
            </a:r>
            <a:br/>
            <a:r>
              <a:t>Chronological holdout  1,799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188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800" b="0">
                <a:solidFill>
                  <a:srgbClr val="18313A"/>
                </a:solidFill>
                <a:latin typeface="Aptos"/>
              </a:defRPr>
            </a:pPr>
            <a:r>
              <a:t>A random forest estimates the provided AQI value from same-period pollutant and weather readings. This is a nowcast proxy, not a forecast of future pollution or proof of causal drivers.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0">
                <a:solidFill>
                  <a:srgbClr val="52676B"/>
                </a:solidFill>
                <a:latin typeface="Aptos"/>
              </a:defRPr>
            </a:pPr>
            <a:r>
              <a:t>The AQI target's calculation method is undocumented in the supplied CSV; interpret model scores as agreement with that provided label.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500" b="1">
                <a:solidFill>
                  <a:srgbClr val="18313A"/>
                </a:solidFill>
                <a:latin typeface="Aptos"/>
              </a:defRPr>
            </a:pPr>
            <a:r>
              <a:t>04  /  Recommendations and next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800" b="1">
                <a:solidFill>
                  <a:srgbClr val="D86F5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234440"/>
            <a:ext cx="9875520" cy="7772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18313A"/>
                </a:solidFill>
                <a:latin typeface="Aptos"/>
              </a:defRPr>
            </a:pPr>
            <a:r>
              <a:t>Use the observed hourly and seasonal patterns to schedule enhanced review, not as a substitute for current measurements.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800" b="1">
                <a:solidFill>
                  <a:srgbClr val="D86F5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31720"/>
            <a:ext cx="9875520" cy="7772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18313A"/>
                </a:solidFill>
                <a:latin typeface="Aptos"/>
              </a:defRPr>
            </a:pPr>
            <a:r>
              <a:t>For city deployment, join timestamped readings to station metadata, traffic volume, wind, rainfall, and holiday calendars.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800" b="1">
                <a:solidFill>
                  <a:srgbClr val="D86F5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9875520" cy="7772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18313A"/>
                </a:solidFill>
                <a:latin typeface="Aptos"/>
              </a:defRPr>
            </a:pPr>
            <a:r>
              <a:t>Validate sensor calibration and the AQI calculation before operationalizing any model threshold.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79"/>
            <a:ext cx="45720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800" b="1">
                <a:solidFill>
                  <a:srgbClr val="D86F5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526279"/>
            <a:ext cx="9875520" cy="7772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18313A"/>
                </a:solidFill>
                <a:latin typeface="Aptos"/>
              </a:defRPr>
            </a:pPr>
            <a:r>
              <a:t>Re-train and evaluate by station and future time period once the requested city-level data is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400" b="1">
                <a:solidFill>
                  <a:srgbClr val="176B5B"/>
                </a:solidFill>
                <a:latin typeface="Aptos"/>
              </a:defRPr>
            </a:pPr>
            <a:r>
              <a:t>Decision: monitor recurring time windows; collect missing drivers before ranking locations or attributing causes.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